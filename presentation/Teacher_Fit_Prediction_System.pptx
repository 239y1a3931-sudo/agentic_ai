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Accuracy (%)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Neural Network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1.png"/><Relationship Id="rId7" Type="http://schemas.openxmlformats.org/officeDocument/2006/relationships/image" Target="../media/image-9-4.png"/><Relationship Id="rId8" Type="http://schemas.openxmlformats.org/officeDocument/2006/relationships/image" Target="../media/image-9-1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F2B13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./assets/teach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FIT PREDICTION 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21792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Supervised + Unsupervised Machine Learning to Evaluate Trainer Feedback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" y="4572000"/>
            <a:ext cx="1856232" cy="384048"/>
          </a:xfrm>
          <a:prstGeom prst="roundRect">
            <a:avLst>
              <a:gd name="adj" fmla="val 19048"/>
            </a:avLst>
          </a:prstGeom>
          <a:solidFill>
            <a:srgbClr val="1D2D50"/>
          </a:solidFill>
          <a:ln w="9525">
            <a:solidFill>
              <a:srgbClr val="334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45720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60904" y="4572000"/>
            <a:ext cx="1421892" cy="384048"/>
          </a:xfrm>
          <a:prstGeom prst="roundRect">
            <a:avLst>
              <a:gd name="adj" fmla="val 19048"/>
            </a:avLst>
          </a:prstGeom>
          <a:solidFill>
            <a:srgbClr val="1D2D50"/>
          </a:solidFill>
          <a:ln w="9525">
            <a:solidFill>
              <a:srgbClr val="334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0904" y="4572000"/>
            <a:ext cx="1421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65676" y="4572000"/>
            <a:ext cx="2029968" cy="384048"/>
          </a:xfrm>
          <a:prstGeom prst="roundRect">
            <a:avLst>
              <a:gd name="adj" fmla="val 19048"/>
            </a:avLst>
          </a:prstGeom>
          <a:solidFill>
            <a:srgbClr val="1D2D50"/>
          </a:solidFill>
          <a:ln w="9525">
            <a:solidFill>
              <a:srgbClr val="334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5676" y="4572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1792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pandas  ·  matplotlib  · 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organisations collect feedback on trainers across several skill areas. This project turns that feedback into a structured decision pipeline: it discovers natural groupings in the data, then learns to classify whether a trainer is a good “Fit” for the role — combining the strengths of unsupervised and supervised learning.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005072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1304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trainers by feedback similarity without using labels.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7997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fitness 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learns to label trainers as Suitable or Needs Improvement.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138928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94690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 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(MLP) is trained in parallel for comparison.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164592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6092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./asset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479" y="2093519"/>
            <a:ext cx="311810" cy="3118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9244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9244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Teaching Skill  (High / Medium / Low)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9244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Communication  (High / Medium / Low)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92440" y="2944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Subject Knowledge  (High / Medium / Low)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92440" y="3236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Classroom Management  (High / Medium / Low)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60920" y="3703320"/>
            <a:ext cx="3931920" cy="0"/>
          </a:xfrm>
          <a:prstGeom prst="line">
            <a:avLst/>
          </a:prstGeom>
          <a:noFill/>
          <a:ln w="12700">
            <a:solidFill>
              <a:srgbClr val="C9D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60920" y="3931920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age 1" descr="./assets/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479" y="4059479"/>
            <a:ext cx="311810" cy="31181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92440" y="3959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092440" y="43159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Fit label — “Fit for the Job” or “Needs Improvement” — with a model confidence score.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 Encoding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reads trainer_feedback_dataset.csv. Four feedback features arrive as categorical ratings and are mapped to a 1–5 numeric scale before they reach any model.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→ Score Map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3291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4348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 (X)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34840" y="27432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74920" y="2944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./asset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8077" y="305752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356616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Skill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82512" y="27432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22592" y="2944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./asset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749" y="305752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5664" y="356616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330184" y="27432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70264" y="2944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./asset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421" y="3057525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03336" y="356616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Knowledge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277856" y="27432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917936" y="2944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./asset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1093" y="3057525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351008" y="356616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Management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 (y)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48920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/>
        </p:spPr>
      </p:sp>
      <p:sp>
        <p:nvSpPr>
          <p:cNvPr id="26" name="Text 19"/>
          <p:cNvSpPr/>
          <p:nvPr/>
        </p:nvSpPr>
        <p:spPr>
          <a:xfrm>
            <a:off x="777240" y="4892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Overall_Label  </a:t>
            </a:r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Fit = 1 if “Suitable”, else 0  (binary classification target)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035040" y="48920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Teacher_Introduction is also used later to compute fit-rate per individual trainer.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map High/Medium/Low ratings to numeric scores 5/3/1.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078224" y="25374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./asset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07911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2628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26280" y="292608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 groups trainers by feedback pattern — unsupervised.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7827264" y="25374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46720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./asset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477" y="207911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06424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7532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275320" y="292608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train–test split for supervised model training.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3" descr="./assets/tre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319397"/>
            <a:ext cx="276606" cy="27660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56616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7724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77240" y="51663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 learns the Fit / Needs Improvement label.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4078224" y="47777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429768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3" name="Image 4" descr="./asset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319397"/>
            <a:ext cx="276606" cy="27660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1520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2628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4526280" y="51663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feed an MLP neural network for comparison.</a:t>
            </a:r>
            <a:endParaRPr lang="en-US" sz="1080" dirty="0"/>
          </a:p>
        </p:txBody>
      </p:sp>
      <p:sp>
        <p:nvSpPr>
          <p:cNvPr id="37" name="Text 30"/>
          <p:cNvSpPr/>
          <p:nvPr/>
        </p:nvSpPr>
        <p:spPr>
          <a:xfrm>
            <a:off x="7827264" y="47777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275320" y="42062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0" name="Image 5" descr="./assets/bar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477" y="4319397"/>
            <a:ext cx="276606" cy="27660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106424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FB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827532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Visualize</a:t>
            </a:r>
            <a:endParaRPr lang="en-US" sz="1450" dirty="0"/>
          </a:p>
        </p:txBody>
      </p:sp>
      <p:sp>
        <p:nvSpPr>
          <p:cNvPr id="43" name="Text 35"/>
          <p:cNvSpPr/>
          <p:nvPr/>
        </p:nvSpPr>
        <p:spPr>
          <a:xfrm>
            <a:off x="8275320" y="516636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5-fold CV, classification reports, and 9 charts.</a:t>
            </a:r>
            <a:endParaRPr lang="en-US" sz="1080" dirty="0"/>
          </a:p>
        </p:txBody>
      </p:sp>
      <p:sp>
        <p:nvSpPr>
          <p:cNvPr id="44" name="Text 36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labels are used, K-Means groups trainers into k = 2 clusters purely from their four feedback scores. This surfaces natural structure in the data — e.g. a high-performing group versus a lower-performing group — independent of the Overall_Label column.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570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41071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 </a:t>
            </a:r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KMeans(n_clusters=2, random_state=42, n_init=10)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48640" y="412394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977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scaled feedback features (Teaching_Skill, Communication, Subject_Knowledge, Classroom_Management)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46908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45445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1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Cluster column (0 / 1) added to the dataframe, plus a cluster-count plot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040880" y="164592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Cluster Split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0175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292608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32004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31089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338328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292608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35661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34747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0" y="466344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0" y="438912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484632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89920" y="484632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2720" y="512064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0" y="457200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0" y="521208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49840" y="4389120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5486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(lower feedback)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42048" y="553212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5486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(higher feedback)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36608" y="553212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5852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pattern — actual cluster shape depends on the dataset.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100 decision trees is trained on the four feedback features to predict the binary Fit label. Each tree votes; the forest's majority vote becomes the prediction, which tends to generalize better than any single tree.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/ 20%, random_state = 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cross-validation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 vs.  Needs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4592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6092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./asset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364" y="204368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0" y="19476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Reported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06640" y="269748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7"/>
          <p:cNvSpPr/>
          <p:nvPr/>
        </p:nvSpPr>
        <p:spPr>
          <a:xfrm>
            <a:off x="7662672" y="254203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accuracy on the 20% test set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7406640" y="3172968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9"/>
          <p:cNvSpPr/>
          <p:nvPr/>
        </p:nvSpPr>
        <p:spPr>
          <a:xfrm>
            <a:off x="7662672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scores + mean accuracy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7406640" y="3648456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1"/>
          <p:cNvSpPr/>
          <p:nvPr/>
        </p:nvSpPr>
        <p:spPr>
          <a:xfrm>
            <a:off x="7662672" y="34930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via classification_report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406640" y="4123944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3"/>
          <p:cNvSpPr/>
          <p:nvPr/>
        </p:nvSpPr>
        <p:spPr>
          <a:xfrm>
            <a:off x="7662672" y="396849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(predicted vs. actual)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7406640" y="4599432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5"/>
          <p:cNvSpPr/>
          <p:nvPr/>
        </p:nvSpPr>
        <p:spPr>
          <a:xfrm>
            <a:off x="7662672" y="44439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 from the trained forest</a:t>
            </a:r>
            <a:endParaRPr lang="en-US" sz="1180" dirty="0"/>
          </a:p>
        </p:txBody>
      </p:sp>
      <p:sp>
        <p:nvSpPr>
          <p:cNvPr id="20" name="Text 16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(MLP Classifier)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— a multi-layer perceptron — is trained on the same features inside a scikit-learn Pipeline that first standardizes the inputs. It runs alongside the Random Forest so the two approaches can be benchmarked under identical evaluation logic.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9900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./asset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311353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feature scale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80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2788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0" y="295351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32461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35387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383133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(4)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40680" y="2788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45352" y="2898648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Shape 16"/>
          <p:cNvSpPr/>
          <p:nvPr/>
        </p:nvSpPr>
        <p:spPr>
          <a:xfrm>
            <a:off x="6245352" y="3081528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45352" y="3264408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Shape 18"/>
          <p:cNvSpPr/>
          <p:nvPr/>
        </p:nvSpPr>
        <p:spPr>
          <a:xfrm>
            <a:off x="6245352" y="3447288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Shape 19"/>
          <p:cNvSpPr/>
          <p:nvPr/>
        </p:nvSpPr>
        <p:spPr>
          <a:xfrm>
            <a:off x="6245352" y="3630168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0"/>
          <p:cNvSpPr/>
          <p:nvPr/>
        </p:nvSpPr>
        <p:spPr>
          <a:xfrm>
            <a:off x="544068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(8)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52360" y="2788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ln/>
        </p:spPr>
      </p:sp>
      <p:sp>
        <p:nvSpPr>
          <p:cNvPr id="25" name="Shape 22"/>
          <p:cNvSpPr/>
          <p:nvPr/>
        </p:nvSpPr>
        <p:spPr>
          <a:xfrm>
            <a:off x="8229600" y="2953512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Shape 23"/>
          <p:cNvSpPr/>
          <p:nvPr/>
        </p:nvSpPr>
        <p:spPr>
          <a:xfrm>
            <a:off x="8229600" y="3246120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Shape 24"/>
          <p:cNvSpPr/>
          <p:nvPr/>
        </p:nvSpPr>
        <p:spPr>
          <a:xfrm>
            <a:off x="8229600" y="3538728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Shape 25"/>
          <p:cNvSpPr/>
          <p:nvPr/>
        </p:nvSpPr>
        <p:spPr>
          <a:xfrm>
            <a:off x="8229600" y="3831336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6"/>
          <p:cNvSpPr/>
          <p:nvPr/>
        </p:nvSpPr>
        <p:spPr>
          <a:xfrm>
            <a:off x="745236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(4)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418320" y="3291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9921240" y="27889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497312" y="2990088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3" name="Image 1" descr=".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56" y="3113532"/>
            <a:ext cx="301752" cy="30175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921240" y="36576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Not Fit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   </a:t>
            </a:r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  </a:t>
            </a:r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max_iter: </a:t>
            </a:r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54864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suite as the Random Forest — accuracy, 5-fold cross-validation, and a full classification report — enabling a direct, apples-to-apples comparison.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Random Forest vs. Neural Network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scored with the same metrics so results are directly comparable. The script’s final chart plots both accuracies side by side — actual values depend on the trainer_feedback_dataset.csv used.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4688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897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 — not measured output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09360" y="246888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2940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Evaluation Metrics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29400" y="3200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.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83" y="3292983"/>
            <a:ext cx="226314" cy="2263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321868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 accuracy (20% split)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629400" y="39136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./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83" y="4006215"/>
            <a:ext cx="226314" cy="2263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3931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mean accuracy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29400" y="462686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./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983" y="4719447"/>
            <a:ext cx="226314" cy="2263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46451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 per class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29400" y="534009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./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983" y="5432679"/>
            <a:ext cx="226314" cy="22631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78040" y="53583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breakdown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Visualizations Generated by the Script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./asset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1705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Confusion Matrix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691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98848" y="20574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./asset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05" y="21705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6916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Avg. Feedback Scores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691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47888" y="20574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./assets/line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045" y="217055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15400" y="16916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Feature Importance (line)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5204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8" name="Image 3" descr="./assets/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363359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1546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Cluster Distribution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29768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98848" y="35204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4" descr="./assets/pie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005" y="3633597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31546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Fit vs. Needs Improvement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4672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47888" y="35204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5" descr="./assets/bar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045" y="3633597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15400" y="31546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Score Distribution (histograms)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4617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49834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6" descr="./assets/gri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" y="5096637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4617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Feature Correlation Heatmap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297680" y="4617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498848" y="49834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4" name="Image 7" descr="./assets/barcha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2005" y="5096637"/>
            <a:ext cx="276606" cy="2766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66360" y="4617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Fit Rate by Trainer (top 10)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046720" y="4617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247888" y="49834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8" name="Image 8" descr="./assets/balanc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1045" y="5096637"/>
            <a:ext cx="276606" cy="27660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15400" y="4617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Model Accuracy Comparison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 New Teacher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the Random Forest can score any new candidate. The script demonstrates this with a sample input of top marks across all four feedback areas.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./assets/teach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8666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Scores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Skill: 5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777240" y="4041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5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77240" y="42885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Knowledge: 5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77240" y="453542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Mgmt: 5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38862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572000" y="2468880"/>
            <a:ext cx="3017520" cy="2377440"/>
          </a:xfrm>
          <a:prstGeom prst="roundRect">
            <a:avLst>
              <a:gd name="adj" fmla="val 3462"/>
            </a:avLst>
          </a:prstGeom>
          <a:solidFill>
            <a:srgbClr val="EAF4F6"/>
          </a:solidFill>
          <a:ln/>
        </p:spPr>
      </p:sp>
      <p:sp>
        <p:nvSpPr>
          <p:cNvPr id="15" name="Shape 12"/>
          <p:cNvSpPr/>
          <p:nvPr/>
        </p:nvSpPr>
        <p:spPr>
          <a:xfrm>
            <a:off x="5760720" y="274320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1" descr="./assets/tr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38" y="288721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 Forest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model.predict_proba()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72668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8321040" y="246888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B134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46920" y="274320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2" descr="./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938" y="288721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2104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THE JOB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21040" y="3931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2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model confidence 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2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(np.max of predict_proba)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confidence are printed directly to the console at runtime.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the Python Data Science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2377440"/>
          </a:xfrm>
          <a:prstGeom prst="roundRect">
            <a:avLst>
              <a:gd name="adj" fmla="val 409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423160"/>
            <a:ext cx="640080" cy="640080"/>
          </a:xfrm>
          <a:prstGeom prst="ellipse">
            <a:avLst/>
          </a:prstGeom>
          <a:solidFill>
            <a:srgbClr val="1D2D50"/>
          </a:solidFill>
          <a:ln/>
        </p:spPr>
      </p:sp>
      <p:pic>
        <p:nvPicPr>
          <p:cNvPr id="6" name="Image 0" descr="./assets/panda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458" y="25671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manipulation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16352" y="2103120"/>
            <a:ext cx="2011680" cy="237744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2423160"/>
            <a:ext cx="640080" cy="640080"/>
          </a:xfrm>
          <a:prstGeom prst="ellipse">
            <a:avLst/>
          </a:prstGeom>
          <a:solidFill>
            <a:srgbClr val="2C84A6"/>
          </a:solidFill>
          <a:ln/>
        </p:spPr>
      </p:sp>
      <p:pic>
        <p:nvPicPr>
          <p:cNvPr id="11" name="Image 1" descr="./assets/nump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5671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53512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operations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84064" y="2103120"/>
            <a:ext cx="2011680" cy="2377440"/>
          </a:xfrm>
          <a:prstGeom prst="roundRect">
            <a:avLst>
              <a:gd name="adj" fmla="val 409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9864" y="2423160"/>
            <a:ext cx="640080" cy="640080"/>
          </a:xfrm>
          <a:prstGeom prst="ellipse">
            <a:avLst/>
          </a:prstGeom>
          <a:solidFill>
            <a:srgbClr val="1D2D50"/>
          </a:solidFill>
          <a:ln/>
        </p:spPr>
      </p:sp>
      <p:pic>
        <p:nvPicPr>
          <p:cNvPr id="16" name="Image 2" descr="./assets/skle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882" y="25671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21224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KMeans, RandomForest, MLP, metrics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51776" y="2103120"/>
            <a:ext cx="2011680" cy="237744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7576" y="2423160"/>
            <a:ext cx="640080" cy="640080"/>
          </a:xfrm>
          <a:prstGeom prst="ellipse">
            <a:avLst/>
          </a:prstGeom>
          <a:solidFill>
            <a:srgbClr val="2C84A6"/>
          </a:solidFill>
          <a:ln/>
        </p:spPr>
      </p:sp>
      <p:pic>
        <p:nvPicPr>
          <p:cNvPr id="21" name="Image 3" descr="./assets/matplotli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94" y="25671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3216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88936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19488" y="2103120"/>
            <a:ext cx="2011680" cy="2377440"/>
          </a:xfrm>
          <a:prstGeom prst="roundRect">
            <a:avLst>
              <a:gd name="adj" fmla="val 409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B1626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05288" y="2423160"/>
            <a:ext cx="640080" cy="640080"/>
          </a:xfrm>
          <a:prstGeom prst="ellipse">
            <a:avLst/>
          </a:prstGeom>
          <a:solidFill>
            <a:srgbClr val="1D2D50"/>
          </a:solidFill>
          <a:ln/>
        </p:spPr>
      </p:sp>
      <p:pic>
        <p:nvPicPr>
          <p:cNvPr id="26" name="Image 4" descr="./asset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9306" y="256717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0928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56648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count plots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(StandardScaler + MLPClassifier) and cross_val_score keep preprocessing and evaluation consistent across both models.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Learning Approaches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2079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+ classification together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286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surfaces structure first; Random Forest and the MLP then learn the labeled Fit decision.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./asset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30849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repeatable evaluation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share accuracy, 5-fold cross-validation and full classification reports for fair comparison.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./assets/bar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409079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charts tell the full story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34440" y="4297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confusion matrices to correlation heatmaps, the visuals cover data, model, and outcome.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./assets/user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50966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937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real-time scoring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34440" y="5303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new_teacher record can be scored instantly with a predicted label and confidence.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next steps: hyperparameter tuning, richer feature sets, and a deployable scoring API.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Fit Prediction System</dc:title>
  <dc:subject>PptxGenJS Presentation</dc:subject>
  <dc:creator>Teacher Fit Prediction System</dc:creator>
  <cp:lastModifiedBy>Teacher Fit Prediction System</cp:lastModifiedBy>
  <cp:revision>1</cp:revision>
  <dcterms:created xsi:type="dcterms:W3CDTF">2026-06-18T04:07:14Z</dcterms:created>
  <dcterms:modified xsi:type="dcterms:W3CDTF">2026-06-18T04:07:14Z</dcterms:modified>
</cp:coreProperties>
</file>