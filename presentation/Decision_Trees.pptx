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4C7A5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5" name="Image 0" descr="./assets/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21792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Intuitive Guide to One of Machine Learning's Foundational Algorithms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" y="457200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234A36"/>
          </a:solidFill>
          <a:ln w="9525">
            <a:solidFill>
              <a:srgbClr val="3756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4572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377440" y="457200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234A36"/>
          </a:solidFill>
          <a:ln w="9525">
            <a:solidFill>
              <a:srgbClr val="3756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67328" y="457200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34A36"/>
          </a:solidFill>
          <a:ln w="9525">
            <a:solidFill>
              <a:srgbClr val="3756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328" y="45720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&amp; Impurity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97296" y="4572000"/>
            <a:ext cx="932688" cy="384048"/>
          </a:xfrm>
          <a:prstGeom prst="roundRect">
            <a:avLst>
              <a:gd name="adj" fmla="val 19048"/>
            </a:avLst>
          </a:prstGeom>
          <a:solidFill>
            <a:srgbClr val="234A36"/>
          </a:solidFill>
          <a:ln w="9525">
            <a:solidFill>
              <a:srgbClr val="3756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97296" y="457200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792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Mechanics · Worked Example · Strengths &amp; Limitations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Decision Tree?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is a flowchart-like model that makes predictions by asking a sequence of simple yes/no or either/or questions about the data. Each question narrows down the possibilities, until the tree reaches a final answer — a class label or a numeric value.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867912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758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  </a:t>
            </a:r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can be traced back through a readable chain of questions.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4281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data type  </a:t>
            </a:r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numeric and categorical features without heavy preprocessing.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001768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0974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of forests  </a:t>
            </a:r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and Gradient Boosting are built from many trees.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Analogy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I bring an umbrella?”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66760" y="260604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raining?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7726680" y="3108960"/>
            <a:ext cx="1508760" cy="68580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3108960"/>
            <a:ext cx="1508760" cy="68580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3860" y="331012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3860" y="33101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78340" y="331012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8340" y="33101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379476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umbrella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21240" y="379476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8A6A52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2124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 home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7804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formalize exactly this kind of reasoning — learned automatically from data.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Decision 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34640" y="182880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H="1">
            <a:off x="2377440" y="2331720"/>
            <a:ext cx="1371600" cy="73152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2331720"/>
            <a:ext cx="1371600" cy="73152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06324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H="1">
            <a:off x="1463040" y="3566160"/>
            <a:ext cx="914400" cy="73152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566160"/>
            <a:ext cx="914400" cy="73152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9768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8A6A52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68880" y="4297680"/>
            <a:ext cx="164592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49440" y="178308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19" name="Image 0" descr="./asset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310" y="1885950"/>
            <a:ext cx="251460" cy="2514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43800" y="1746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543800" y="2057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question, evaluated on the full dataset.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49440" y="278892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23" name="Image 1" descr="./assets/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310" y="2891790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43800" y="2752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54380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connecting path representing the outcome of a question (e.g. “Yes”).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949440" y="379476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27" name="Image 2" descr="./asset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310" y="3897630"/>
            <a:ext cx="251460" cy="251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543800" y="3758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(Internal) Node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754380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question that splits the data again.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949440" y="480060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31" name="Image 3" descr="./assets/leaf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4903470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43800" y="47640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543800" y="5074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node holding the final prediction — no more splits.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Tree Chooses Its Splits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node, the algorithm tests possible questions on every feature and picks the one that splits the data into the “purest” possible groups — the split that does the best job of separating the classes (or reducing variance for numeric targets).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7" name="Image 0" descr="./asset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3014091"/>
            <a:ext cx="326898" cy="3268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14600" y="288036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4C7A53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2880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mixed a node is. A pure node (all one class) has Gini = 0; the split that lowers Gini the most wins.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297680" y="26060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880360"/>
            <a:ext cx="594360" cy="59436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14" name="Image 1" descr="./assets/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3014091"/>
            <a:ext cx="326898" cy="32689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63640" y="288036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4C7A53"/>
          </a:solidFill>
          <a:ln/>
        </p:spPr>
      </p:sp>
      <p:sp>
        <p:nvSpPr>
          <p:cNvPr id="16" name="Text 12"/>
          <p:cNvSpPr/>
          <p:nvPr/>
        </p:nvSpPr>
        <p:spPr>
          <a:xfrm>
            <a:off x="6263640" y="2880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0" y="3611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&amp; Information Gain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7200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information theory. The split chosen is the one that gains the most certainty about the outcome.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8046720" y="26060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2880360"/>
            <a:ext cx="594360" cy="59436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21" name="Image 2" descr="./assets/therm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71" y="3014091"/>
            <a:ext cx="326898" cy="32689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012680" y="288036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/>
        </p:spPr>
      </p:sp>
      <p:sp>
        <p:nvSpPr>
          <p:cNvPr id="23" name="Text 18"/>
          <p:cNvSpPr/>
          <p:nvPr/>
        </p:nvSpPr>
        <p:spPr>
          <a:xfrm>
            <a:off x="10012680" y="2880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321040" y="3611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832104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predicting numbers, the tree picks splits that make the target values within each group as similar as possible.</a:t>
            </a:r>
            <a:endParaRPr lang="en-US" sz="1180" dirty="0"/>
          </a:p>
        </p:txBody>
      </p:sp>
      <p:sp>
        <p:nvSpPr>
          <p:cNvPr id="26" name="Text 21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You Play Tennis Today?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teaching example: the tree learns from past days whether weather conditions led to playing tennis, then asks the same questions of any new day.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66360" y="214884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663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66360" y="324612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Yes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0" y="3246120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H="1">
            <a:off x="2286000" y="2651760"/>
            <a:ext cx="379476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651760"/>
            <a:ext cx="9144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651760"/>
            <a:ext cx="379476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7580" y="2779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7580" y="2779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46420" y="282549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6420" y="28254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95260" y="2779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260" y="2779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8A6A52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No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51760" y="434340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5176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Yes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434340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8A6A52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No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241280" y="4343400"/>
            <a:ext cx="1463040" cy="502920"/>
          </a:xfrm>
          <a:prstGeom prst="roundRect">
            <a:avLst>
              <a:gd name="adj" fmla="val 16364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24128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Yes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flipH="1">
            <a:off x="1188720" y="3749040"/>
            <a:ext cx="109728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3749040"/>
            <a:ext cx="109728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8778240" y="3749040"/>
            <a:ext cx="109728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3749040"/>
            <a:ext cx="1097280" cy="594360"/>
          </a:xfrm>
          <a:prstGeom prst="line">
            <a:avLst/>
          </a:prstGeom>
          <a:noFill/>
          <a:ln w="19050">
            <a:solidFill>
              <a:srgbClr val="9FB5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" y="3922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" y="3922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20340" y="3922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20340" y="3922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72500" y="3922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72500" y="3922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309860" y="3922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09860" y="3922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43" name="Shape 41"/>
          <p:cNvSpPr/>
          <p:nvPr/>
        </p:nvSpPr>
        <p:spPr>
          <a:xfrm>
            <a:off x="777240" y="5577840"/>
            <a:ext cx="411480" cy="41148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44" name="Image 0" descr="./asset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823" y="5670423"/>
            <a:ext cx="226314" cy="22631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280160" y="5577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 — asks a question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206240" y="5577840"/>
            <a:ext cx="411480" cy="41148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47" name="Image 1" descr=".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823" y="5670423"/>
            <a:ext cx="226314" cy="226314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4709160" y="5577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“Yes, play tennis”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7315200" y="5577840"/>
            <a:ext cx="411480" cy="411480"/>
          </a:xfrm>
          <a:prstGeom prst="ellipse">
            <a:avLst/>
          </a:prstGeom>
          <a:solidFill>
            <a:srgbClr val="8A6A52"/>
          </a:solidFill>
          <a:ln/>
        </p:spPr>
      </p:sp>
      <p:pic>
        <p:nvPicPr>
          <p:cNvPr id="50" name="Image 2" descr="./assets/tim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83" y="5670423"/>
            <a:ext cx="226314" cy="226314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7818120" y="5577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“No, don’t play”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Impurity vs. Entropy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formulas measure how “mixed” a node is, and both lead to similar trees in practice. Gini is slightly cheaper to compute; entropy comes from information theory and pairs with information gain.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889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4617720" cy="6400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= 1 − Σ (pᵢ)²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squared probability of each class in a node, subtract from 1. Ranges 0 (pure) to 0.5 for a balanced two-class split.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scikit-learn's default Decision Tree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4688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7889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20840" y="3337560"/>
            <a:ext cx="4617720" cy="6400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3375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= −Σ pᵢ log₂(pᵢ)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41605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disorder in bits. A pure node has entropy 0; a 50/50 split has entropy 1. Information Gain = parent entropy − weighted child entropy.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5760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ID3 / C4.5 style trees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Trees vs. Regression Trees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6" name="Image 0" descr="./assets/list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2825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Tree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514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category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316382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03580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= the majority class of training examples that reached it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914400" y="394106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quality measured with Gini or Entropy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914400" y="471830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1170432" y="459028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class label (e.g. “Suitable”)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6355080" y="182880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720840" y="2148840"/>
            <a:ext cx="594360" cy="594360"/>
          </a:xfrm>
          <a:prstGeom prst="ellipse">
            <a:avLst/>
          </a:prstGeom>
          <a:solidFill>
            <a:srgbClr val="1B3A2B"/>
          </a:solidFill>
          <a:ln/>
        </p:spPr>
      </p:sp>
      <p:pic>
        <p:nvPicPr>
          <p:cNvPr id="17" name="Image 1" descr="./assets/therm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571" y="2282571"/>
            <a:ext cx="326898" cy="3268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0" y="2194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Tree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7498080" y="2514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number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720840" y="316382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7"/>
          <p:cNvSpPr/>
          <p:nvPr/>
        </p:nvSpPr>
        <p:spPr>
          <a:xfrm>
            <a:off x="6976872" y="303580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= the average target value of examples that reached it</a:t>
            </a:r>
            <a:endParaRPr lang="en-US" sz="1180" dirty="0"/>
          </a:p>
        </p:txBody>
      </p:sp>
      <p:sp>
        <p:nvSpPr>
          <p:cNvPr id="22" name="Shape 18"/>
          <p:cNvSpPr/>
          <p:nvPr/>
        </p:nvSpPr>
        <p:spPr>
          <a:xfrm>
            <a:off x="6720840" y="394106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19"/>
          <p:cNvSpPr/>
          <p:nvPr/>
        </p:nvSpPr>
        <p:spPr>
          <a:xfrm>
            <a:off x="6976872" y="381304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quality measured by variance / MSE reduction</a:t>
            </a:r>
            <a:endParaRPr lang="en-US" sz="1180" dirty="0"/>
          </a:p>
        </p:txBody>
      </p:sp>
      <p:sp>
        <p:nvSpPr>
          <p:cNvPr id="24" name="Shape 20"/>
          <p:cNvSpPr/>
          <p:nvPr/>
        </p:nvSpPr>
        <p:spPr>
          <a:xfrm>
            <a:off x="6720840" y="4718304"/>
            <a:ext cx="118872" cy="1188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1"/>
          <p:cNvSpPr/>
          <p:nvPr/>
        </p:nvSpPr>
        <p:spPr>
          <a:xfrm>
            <a:off x="6976872" y="459028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numeric value (e.g. predicted price)</a:t>
            </a:r>
            <a:endParaRPr lang="en-US" sz="1180" dirty="0"/>
          </a:p>
        </p:txBody>
      </p:sp>
      <p:sp>
        <p:nvSpPr>
          <p:cNvPr id="26" name="Text 22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RISK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&amp; Pruning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unchecked, a tree will keep splitting until every leaf is perfectly pure — memorizing the training data instead of learning general patterns. Pruning keeps the tree simple enough to generalize.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3611880"/>
          </a:xfrm>
          <a:prstGeom prst="roundRect">
            <a:avLst>
              <a:gd name="adj" fmla="val 2278"/>
            </a:avLst>
          </a:prstGeom>
          <a:solidFill>
            <a:srgbClr val="EAF1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Unpruned — Overfit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2697480" y="3493008"/>
            <a:ext cx="502920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3493008"/>
            <a:ext cx="502920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3767328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2487168" y="4059936"/>
            <a:ext cx="329184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4059936"/>
            <a:ext cx="329184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3767328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14" name="Shape 12"/>
          <p:cNvSpPr/>
          <p:nvPr/>
        </p:nvSpPr>
        <p:spPr>
          <a:xfrm flipH="1">
            <a:off x="3493008" y="4059936"/>
            <a:ext cx="329184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4059936"/>
            <a:ext cx="329184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5121" y="4334256"/>
            <a:ext cx="351495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17" name="Shape 15"/>
          <p:cNvSpPr/>
          <p:nvPr/>
        </p:nvSpPr>
        <p:spPr>
          <a:xfrm flipH="1">
            <a:off x="2339401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869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3489" y="4334256"/>
            <a:ext cx="351495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20" name="Shape 18"/>
          <p:cNvSpPr/>
          <p:nvPr/>
        </p:nvSpPr>
        <p:spPr>
          <a:xfrm flipH="1">
            <a:off x="2997769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9237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0961" y="4334256"/>
            <a:ext cx="351495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23" name="Shape 21"/>
          <p:cNvSpPr/>
          <p:nvPr/>
        </p:nvSpPr>
        <p:spPr>
          <a:xfrm flipH="1">
            <a:off x="3345241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709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9329" y="4334256"/>
            <a:ext cx="351495" cy="292608"/>
          </a:xfrm>
          <a:prstGeom prst="roundRect">
            <a:avLst>
              <a:gd name="adj" fmla="val 12500"/>
            </a:avLst>
          </a:prstGeom>
          <a:solidFill>
            <a:srgbClr val="1B3A2B"/>
          </a:solidFill>
          <a:ln/>
        </p:spPr>
      </p:sp>
      <p:sp>
        <p:nvSpPr>
          <p:cNvPr id="26" name="Shape 24"/>
          <p:cNvSpPr/>
          <p:nvPr/>
        </p:nvSpPr>
        <p:spPr>
          <a:xfrm flipH="1">
            <a:off x="4003609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25077" y="4626864"/>
            <a:ext cx="221468" cy="274320"/>
          </a:xfrm>
          <a:prstGeom prst="line">
            <a:avLst/>
          </a:prstGeom>
          <a:noFill/>
          <a:ln w="12700">
            <a:solidFill>
              <a:srgbClr val="C9D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6132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719067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4500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1" name="Shape 29"/>
          <p:cNvSpPr/>
          <p:nvPr/>
        </p:nvSpPr>
        <p:spPr>
          <a:xfrm>
            <a:off x="3377435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81972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3" name="Shape 31"/>
          <p:cNvSpPr/>
          <p:nvPr/>
        </p:nvSpPr>
        <p:spPr>
          <a:xfrm>
            <a:off x="3724907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4" name="Shape 32"/>
          <p:cNvSpPr/>
          <p:nvPr/>
        </p:nvSpPr>
        <p:spPr>
          <a:xfrm>
            <a:off x="3940340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3275" y="4901184"/>
            <a:ext cx="217927" cy="292608"/>
          </a:xfrm>
          <a:prstGeom prst="roundRect">
            <a:avLst>
              <a:gd name="adj" fmla="val 16784"/>
            </a:avLst>
          </a:prstGeom>
          <a:solidFill>
            <a:srgbClr val="8A6A52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532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narrow splits chase noise in the training data — high accuracy on training, poor on new data.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2514600"/>
            <a:ext cx="5440680" cy="3611880"/>
          </a:xfrm>
          <a:prstGeom prst="roundRect">
            <a:avLst>
              <a:gd name="adj" fmla="val 2278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2697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Prune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40" name="Image 0" descr="./assets/cu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390" y="3303270"/>
            <a:ext cx="251460" cy="25146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040880" y="31821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Pre-pruning (early stopping)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040880" y="349300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growth upfront: max_depth, min_samples_split, min_samples_leaf.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46520" y="4343400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44" name="Image 1" descr="./asset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4446270"/>
            <a:ext cx="251460" cy="25146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040880" y="43251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Post-pruning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7040880" y="463600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full tree, then trim back branches that don’t improve validation performance (e.g. cost-complexity pruning).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446520" y="5577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simplest tree that still explains the data well — not the deepest one.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69080"/>
          </a:xfrm>
          <a:prstGeom prst="roundRect">
            <a:avLst>
              <a:gd name="adj" fmla="val 2022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6" name="Image 0" descr=".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7855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75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798064"/>
            <a:ext cx="118872" cy="118872"/>
          </a:xfrm>
          <a:prstGeom prst="ellipse">
            <a:avLst/>
          </a:prstGeom>
          <a:solidFill>
            <a:srgbClr val="4C7A53"/>
          </a:solidFill>
          <a:ln/>
        </p:spPr>
      </p:sp>
      <p:sp>
        <p:nvSpPr>
          <p:cNvPr id="9" name="Text 6"/>
          <p:cNvSpPr/>
          <p:nvPr/>
        </p:nvSpPr>
        <p:spPr>
          <a:xfrm>
            <a:off x="1124712" y="26700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and explain to non-technical audiences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547872"/>
            <a:ext cx="118872" cy="118872"/>
          </a:xfrm>
          <a:prstGeom prst="ellipse">
            <a:avLst/>
          </a:prstGeom>
          <a:solidFill>
            <a:srgbClr val="4C7A53"/>
          </a:solidFill>
          <a:ln/>
        </p:spPr>
      </p:sp>
      <p:sp>
        <p:nvSpPr>
          <p:cNvPr id="11" name="Text 8"/>
          <p:cNvSpPr/>
          <p:nvPr/>
        </p:nvSpPr>
        <p:spPr>
          <a:xfrm>
            <a:off x="1124712" y="341985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numeric and categorical features natively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4C7A53"/>
          </a:solidFill>
          <a:ln/>
        </p:spPr>
      </p:sp>
      <p:sp>
        <p:nvSpPr>
          <p:cNvPr id="13" name="Text 10"/>
          <p:cNvSpPr/>
          <p:nvPr/>
        </p:nvSpPr>
        <p:spPr>
          <a:xfrm>
            <a:off x="1124712" y="416966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little data preprocessing or scaling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047488"/>
            <a:ext cx="118872" cy="118872"/>
          </a:xfrm>
          <a:prstGeom prst="ellipse">
            <a:avLst/>
          </a:prstGeom>
          <a:solidFill>
            <a:srgbClr val="4C7A53"/>
          </a:solidFill>
          <a:ln/>
        </p:spPr>
      </p:sp>
      <p:sp>
        <p:nvSpPr>
          <p:cNvPr id="15" name="Text 12"/>
          <p:cNvSpPr/>
          <p:nvPr/>
        </p:nvSpPr>
        <p:spPr>
          <a:xfrm>
            <a:off x="1124712" y="491947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and interactions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349240" cy="4069080"/>
          </a:xfrm>
          <a:prstGeom prst="roundRect">
            <a:avLst>
              <a:gd name="adj" fmla="val 2022"/>
            </a:avLst>
          </a:prstGeom>
          <a:solidFill>
            <a:srgbClr val="EAF1EC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0" y="2075688"/>
            <a:ext cx="457200" cy="457200"/>
          </a:xfrm>
          <a:prstGeom prst="ellipse">
            <a:avLst/>
          </a:prstGeom>
          <a:solidFill>
            <a:srgbClr val="8A6A52"/>
          </a:solidFill>
          <a:ln/>
        </p:spPr>
      </p:sp>
      <p:pic>
        <p:nvPicPr>
          <p:cNvPr id="18" name="Image 1" descr="./assets/tim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2178558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075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0" y="2798064"/>
            <a:ext cx="118872" cy="118872"/>
          </a:xfrm>
          <a:prstGeom prst="ellipse">
            <a:avLst/>
          </a:prstGeom>
          <a:solidFill>
            <a:srgbClr val="8A6A52"/>
          </a:solidFill>
          <a:ln/>
        </p:spPr>
      </p:sp>
      <p:sp>
        <p:nvSpPr>
          <p:cNvPr id="21" name="Text 17"/>
          <p:cNvSpPr/>
          <p:nvPr/>
        </p:nvSpPr>
        <p:spPr>
          <a:xfrm>
            <a:off x="6931152" y="26700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without pruning or depth limits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75120" y="3547872"/>
            <a:ext cx="118872" cy="118872"/>
          </a:xfrm>
          <a:prstGeom prst="ellipse">
            <a:avLst/>
          </a:prstGeom>
          <a:solidFill>
            <a:srgbClr val="8A6A52"/>
          </a:solidFill>
          <a:ln/>
        </p:spPr>
      </p:sp>
      <p:sp>
        <p:nvSpPr>
          <p:cNvPr id="23" name="Text 19"/>
          <p:cNvSpPr/>
          <p:nvPr/>
        </p:nvSpPr>
        <p:spPr>
          <a:xfrm>
            <a:off x="6931152" y="341985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changes can produce a very different tree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75120" y="4297680"/>
            <a:ext cx="118872" cy="118872"/>
          </a:xfrm>
          <a:prstGeom prst="ellipse">
            <a:avLst/>
          </a:prstGeom>
          <a:solidFill>
            <a:srgbClr val="8A6A52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416966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biased splits with imbalanced classes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5047488"/>
            <a:ext cx="118872" cy="118872"/>
          </a:xfrm>
          <a:prstGeom prst="ellipse">
            <a:avLst/>
          </a:prstGeom>
          <a:solidFill>
            <a:srgbClr val="8A6A52"/>
          </a:solidFill>
          <a:ln/>
        </p:spPr>
      </p:sp>
      <p:sp>
        <p:nvSpPr>
          <p:cNvPr id="27" name="Text 23"/>
          <p:cNvSpPr/>
          <p:nvPr/>
        </p:nvSpPr>
        <p:spPr>
          <a:xfrm>
            <a:off x="6931152" y="491947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trees usually underperform ensembles like Random Forest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Tree to a Forest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tree is a high-variance model — small data changes can reshape it. Ensembles combine many trees to smooth this out and consistently boost accuracy.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./asset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98323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/ Random Forest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many trees on random subsets of data and features, then average their votes. Reduces variance and overfitting.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560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./asset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983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(e.g. Gradient Boosting, XGBoost)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4251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trees sequentially, each one correcting the errors of the last. Often the strongest tabular-data performer.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560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./asset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9832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4251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trees with other model types, letting a final model learn how to best blend their predictions.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Decision Trees Show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2F5743"/>
          </a:solidFill>
          <a:ln/>
        </p:spPr>
      </p:sp>
      <p:pic>
        <p:nvPicPr>
          <p:cNvPr id="6" name="Image 0" descr="./asset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5831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diagnosis support by splitting on symptoms and test results.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21031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548" y="2423160"/>
            <a:ext cx="640080" cy="640080"/>
          </a:xfrm>
          <a:prstGeom prst="ellipse">
            <a:avLst/>
          </a:prstGeom>
          <a:solidFill>
            <a:srgbClr val="3D6B49"/>
          </a:solidFill>
          <a:ln/>
        </p:spPr>
      </p:sp>
      <p:pic>
        <p:nvPicPr>
          <p:cNvPr id="11" name="Image 1" descr="./assets/univers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5831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84448" y="37033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and loan approval decisions based on applicant attributes.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21031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7476" y="2423160"/>
            <a:ext cx="640080" cy="640080"/>
          </a:xfrm>
          <a:prstGeom prst="ellipse">
            <a:avLst/>
          </a:prstGeom>
          <a:solidFill>
            <a:srgbClr val="2F5743"/>
          </a:solidFill>
          <a:ln/>
        </p:spPr>
      </p:sp>
      <p:pic>
        <p:nvPicPr>
          <p:cNvPr id="16" name="Image 2" descr="./assets/c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5831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37376" y="37033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and product recommendation logic.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7424" y="21031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4C7A53"/>
          </a:solidFill>
          <a:ln/>
          <a:effectLst>
            <a:outerShdw sx="100000" sy="100000" kx="0" ky="0" algn="bl" rotWithShape="0" blurRad="101600" dist="38100" dir="2700000">
              <a:srgbClr val="0B1A1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90404" y="2423160"/>
            <a:ext cx="640080" cy="640080"/>
          </a:xfrm>
          <a:prstGeom prst="ellipse">
            <a:avLst/>
          </a:prstGeom>
          <a:solidFill>
            <a:srgbClr val="3D6B49"/>
          </a:solidFill>
          <a:ln/>
        </p:spPr>
      </p:sp>
      <p:pic>
        <p:nvPicPr>
          <p:cNvPr id="21" name="Image 3" descr="./asset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4" y="25831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4584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90304" y="37033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suspicious transactions through rule-like splits.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industries, the appeal is the same: a transparent set of rules anyone can audit.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4C7A5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Questions, Powerful Predictions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6" name="Image 0" descr="./asset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yes/no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286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tests one feature, narrowing the data until a leaf gives the final prediction.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10" name="Image 1" descr="./asset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30849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chosen by impurity reduction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Gini, entropy, or variance reduction decide which question is asked at each step.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14" name="Image 2" descr="./assets/cu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409079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controls overfitting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34440" y="4297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limits and post-pruning keep the tree general rather than memorized.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4C7A53"/>
          </a:solidFill>
          <a:ln/>
        </p:spPr>
      </p:sp>
      <p:pic>
        <p:nvPicPr>
          <p:cNvPr id="18" name="Image 3" descr="./asset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50966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937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build on this foundation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34440" y="5303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and boosting combine many trees for stronger, steadier predictions.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try building one on a real dataset and compare it against a Random Forest.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subject>PptxGenJS Presentation</dc:subject>
  <dc:creator>Decision Trees</dc:creator>
  <cp:lastModifiedBy>Decision Trees</cp:lastModifiedBy>
  <cp:revision>1</cp:revision>
  <dcterms:created xsi:type="dcterms:W3CDTF">2026-06-18T04:23:53Z</dcterms:created>
  <dcterms:modified xsi:type="dcterms:W3CDTF">2026-06-18T04:23:53Z</dcterms:modified>
</cp:coreProperties>
</file>